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68" d="100"/>
          <a:sy n="68" d="100"/>
        </p:scale>
        <p:origin x="536" y="4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microsoft.com/office/2007/relationships/hdphoto" Target="../media/hdphoto4.wdp"/><Relationship Id="rId2" Type="http://schemas.openxmlformats.org/officeDocument/2006/relationships/notesSlide" Target="../notesSlides/notesSlide1.xml"/><Relationship Id="rId16" Type="http://schemas.microsoft.com/office/2007/relationships/hdphoto" Target="../media/hdphoto6.wdp"/><Relationship Id="rId1" Type="http://schemas.openxmlformats.org/officeDocument/2006/relationships/slideLayout" Target="../slideLayouts/slideLayout18.xml"/><Relationship Id="rId6" Type="http://schemas.microsoft.com/office/2007/relationships/hdphoto" Target="../media/hdphoto1.wdp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10" Type="http://schemas.microsoft.com/office/2007/relationships/hdphoto" Target="../media/hdphoto3.wdp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14" Type="http://schemas.microsoft.com/office/2007/relationships/hdphoto" Target="../media/hdphoto5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nab-13/VOIS_for_TECH_Internship/tree/main/Major_Projec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arnabthe07@gmail.com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8" y="3583914"/>
            <a:ext cx="8763843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b="0" dirty="0" smtClean="0">
                <a:solidFill>
                  <a:schemeClr val="tx1"/>
                </a:solidFill>
              </a:rPr>
              <a:t>[Student Name – ARNAB CHOWDHURY  </a:t>
            </a:r>
            <a:endParaRPr lang="en-IN" b="0" dirty="0">
              <a:solidFill>
                <a:schemeClr val="tx1"/>
              </a:solidFill>
            </a:endParaRP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College </a:t>
            </a:r>
            <a:r>
              <a:rPr lang="en-US" b="0" dirty="0" smtClean="0">
                <a:solidFill>
                  <a:schemeClr val="tx1"/>
                </a:solidFill>
              </a:rPr>
              <a:t>Name- University of Engineering &amp; Management, Jaipur </a:t>
            </a:r>
            <a:r>
              <a:rPr lang="en-US" b="0" dirty="0">
                <a:solidFill>
                  <a:schemeClr val="tx1"/>
                </a:solidFill>
              </a:rPr>
              <a:t>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9691121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</a:t>
            </a:r>
            <a:r>
              <a:rPr lang="en-GB" sz="3200" dirty="0" smtClean="0"/>
              <a:t>- </a:t>
            </a:r>
            <a:r>
              <a:rPr lang="en-US" sz="3200" dirty="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5" y="4576469"/>
            <a:ext cx="4425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US" b="1" dirty="0" smtClean="0"/>
              <a:t>(</a:t>
            </a:r>
            <a:r>
              <a:rPr lang="en-US" dirty="0"/>
              <a:t>STU6a2fa399187661781506969 </a:t>
            </a:r>
            <a:r>
              <a:rPr lang="en-US" b="1" dirty="0" smtClean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566" y="1291094"/>
            <a:ext cx="8238921" cy="401619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en-US" b="1" dirty="0" smtClean="0">
                <a:solidFill>
                  <a:schemeClr val="tx1"/>
                </a:solidFill>
              </a:rPr>
              <a:t>Context</a:t>
            </a:r>
            <a:r>
              <a:rPr lang="en-US" altLang="en-US" b="1" dirty="0">
                <a:solidFill>
                  <a:schemeClr val="tx1"/>
                </a:solidFill>
              </a:rPr>
              <a:t>:</a:t>
            </a:r>
            <a:r>
              <a:rPr lang="en-US" altLang="en-US" dirty="0">
                <a:solidFill>
                  <a:schemeClr val="tx1"/>
                </a:solidFill>
              </a:rPr>
              <a:t> Agricultural productivity, input usage, and farm profitability are heavily driven by seasonal variations (</a:t>
            </a:r>
            <a:r>
              <a:rPr lang="en-US" altLang="en-US" dirty="0" err="1">
                <a:solidFill>
                  <a:schemeClr val="tx1"/>
                </a:solidFill>
              </a:rPr>
              <a:t>Kharif</a:t>
            </a:r>
            <a:r>
              <a:rPr lang="en-US" altLang="en-US" dirty="0">
                <a:solidFill>
                  <a:schemeClr val="tx1"/>
                </a:solidFill>
              </a:rPr>
              <a:t>, Rabi, and Zaid</a:t>
            </a:r>
            <a:r>
              <a:rPr lang="en-US" altLang="en-US" dirty="0" smtClean="0">
                <a:solidFill>
                  <a:schemeClr val="tx1"/>
                </a:solidFill>
              </a:rPr>
              <a:t>).</a:t>
            </a:r>
            <a:endParaRPr lang="en-IN" altLang="en-US" dirty="0">
              <a:solidFill>
                <a:schemeClr val="tx1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altLang="en-US" b="1" dirty="0">
                <a:solidFill>
                  <a:schemeClr val="tx1"/>
                </a:solidFill>
              </a:rPr>
              <a:t>Core Issue:</a:t>
            </a:r>
            <a:r>
              <a:rPr lang="en-US" altLang="en-US" dirty="0">
                <a:solidFill>
                  <a:schemeClr val="tx1"/>
                </a:solidFill>
              </a:rPr>
              <a:t> Raw agricultural datasets do not directly reveal how performance varies across seasons, leading to misaligned resource deployment and unexpected crop loss. </a:t>
            </a:r>
            <a:endParaRPr lang="en-US" altLang="en-US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US" b="1" dirty="0">
                <a:solidFill>
                  <a:schemeClr val="tx1"/>
                </a:solidFill>
              </a:rPr>
              <a:t>Objective:</a:t>
            </a:r>
            <a:r>
              <a:rPr lang="en-US" altLang="en-US" dirty="0">
                <a:solidFill>
                  <a:schemeClr val="tx1"/>
                </a:solidFill>
              </a:rPr>
              <a:t> Conduct an end-to-end Exploratory Data Analysis (EDA) on 4,000 farm records to identify seasonal trends in crop yield, water/fertilizer efficiency, disease risk, and net farm profitability.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927" y="2625196"/>
            <a:ext cx="2760758" cy="326440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37" y="305320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61" y="305592"/>
            <a:ext cx="6276109" cy="830997"/>
          </a:xfrm>
        </p:spPr>
        <p:txBody>
          <a:bodyPr>
            <a:normAutofit/>
          </a:bodyPr>
          <a:lstStyle/>
          <a:p>
            <a:r>
              <a:rPr lang="en-GB" dirty="0" smtClean="0"/>
              <a:t>Project Description</a:t>
            </a:r>
            <a:endParaRPr lang="en-IN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5957" y="1401024"/>
            <a:ext cx="883568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+mj-lt"/>
              </a:rPr>
              <a:t>Dataset Scope:</a:t>
            </a:r>
            <a:r>
              <a:rPr lang="en-US" altLang="en-US" sz="2000" dirty="0">
                <a:latin typeface="+mj-lt"/>
              </a:rPr>
              <a:t> Analyzed 4,000 farm records across 8 major Indian states, 8 crop types, and 3 cropping seasons (</a:t>
            </a:r>
            <a:r>
              <a:rPr lang="en-US" altLang="en-US" sz="2000" dirty="0" err="1">
                <a:latin typeface="+mj-lt"/>
              </a:rPr>
              <a:t>Kharif</a:t>
            </a:r>
            <a:r>
              <a:rPr lang="en-US" altLang="en-US" sz="2000" dirty="0">
                <a:latin typeface="+mj-lt"/>
              </a:rPr>
              <a:t>: 1,779, Rabi: 1,627, Zaid: 594</a:t>
            </a:r>
            <a:r>
              <a:rPr lang="en-US" altLang="en-US" sz="2000" dirty="0" smtClean="0">
                <a:latin typeface="+mj-lt"/>
              </a:rPr>
              <a:t>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+mj-lt"/>
              </a:rPr>
              <a:t>Data Hygiene &amp; Preparation:</a:t>
            </a:r>
            <a:r>
              <a:rPr lang="en-US" altLang="en-US" sz="2000" dirty="0">
                <a:latin typeface="+mj-lt"/>
              </a:rPr>
              <a:t> Handled missing data in key fields (</a:t>
            </a:r>
            <a:r>
              <a:rPr lang="en-US" altLang="en-US" sz="2000" dirty="0" err="1" smtClean="0">
                <a:latin typeface="+mj-lt"/>
              </a:rPr>
              <a:t>Rainfall_mm</a:t>
            </a:r>
            <a:r>
              <a:rPr lang="en-US" altLang="en-US" sz="2000" dirty="0">
                <a:latin typeface="+mj-lt"/>
              </a:rPr>
              <a:t>, </a:t>
            </a:r>
            <a:r>
              <a:rPr lang="en-US" altLang="en-US" sz="2000" dirty="0" err="1">
                <a:latin typeface="+mj-lt"/>
              </a:rPr>
              <a:t>Soil_Moisture_pct</a:t>
            </a:r>
            <a:r>
              <a:rPr lang="en-US" altLang="en-US" sz="2000" dirty="0">
                <a:latin typeface="+mj-lt"/>
              </a:rPr>
              <a:t>, and </a:t>
            </a:r>
            <a:r>
              <a:rPr lang="en-US" altLang="en-US" sz="2000" dirty="0" err="1">
                <a:latin typeface="+mj-lt"/>
              </a:rPr>
              <a:t>Yield_Tonnes_Ha</a:t>
            </a:r>
            <a:r>
              <a:rPr lang="en-US" altLang="en-US" sz="2000" dirty="0">
                <a:latin typeface="+mj-lt"/>
              </a:rPr>
              <a:t>) using domain-aligned stratified medians (grouped by Season, State, and Crop). </a:t>
            </a:r>
            <a:endParaRPr lang="en-US" altLang="en-US" sz="2000" dirty="0" smtClean="0"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+mj-lt"/>
              </a:rPr>
              <a:t>Feature Engineering:</a:t>
            </a:r>
            <a:r>
              <a:rPr lang="en-US" altLang="en-US" sz="2000" dirty="0">
                <a:latin typeface="+mj-lt"/>
              </a:rPr>
              <a:t> Derived critical metrics including Profit Margins (%), Total NPK Usage (kg/ha), Cost per Hectare, and Binary Profitability indicators</a:t>
            </a:r>
            <a:r>
              <a:rPr lang="en-US" altLang="en-US" sz="2000" dirty="0" smtClean="0">
                <a:latin typeface="+mj-lt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+mj-lt"/>
              </a:rPr>
              <a:t>Core Focus Areas:</a:t>
            </a:r>
            <a:r>
              <a:rPr lang="en-US" altLang="en-US" sz="2000" dirty="0">
                <a:latin typeface="+mj-lt"/>
              </a:rPr>
              <a:t> Investigated environmental microclimates, resource efficiency across 4 irrigation systems, pest dynamics, and state-level financial returns. 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689" y="1141930"/>
            <a:ext cx="9063664" cy="4930217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 smtClean="0"/>
              <a:t>Farmers </a:t>
            </a:r>
            <a:r>
              <a:rPr lang="en-US" b="1" dirty="0"/>
              <a:t>&amp; Producer Organizations (FPOs):</a:t>
            </a:r>
            <a:r>
              <a:rPr lang="en-US" dirty="0"/>
              <a:t> To plan crop selection and schedule input deployment based on seasonal climate patterns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b="1" dirty="0" err="1" smtClean="0"/>
              <a:t>Agri</a:t>
            </a:r>
            <a:r>
              <a:rPr lang="en-US" b="1" dirty="0" smtClean="0"/>
              <a:t>-Financiers </a:t>
            </a:r>
            <a:r>
              <a:rPr lang="en-US" b="1" dirty="0"/>
              <a:t>&amp; Insurance Providers:</a:t>
            </a:r>
            <a:r>
              <a:rPr lang="en-US" dirty="0"/>
              <a:t> To evaluate seasonal financial risk, calculate crop loan repayment capacities, and set insurance premiums based on loss probabilities.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b="1" dirty="0" smtClean="0"/>
              <a:t>Government </a:t>
            </a:r>
            <a:r>
              <a:rPr lang="en-US" b="1" dirty="0"/>
              <a:t>Agricultural Departments &amp; Policymakers:</a:t>
            </a:r>
            <a:r>
              <a:rPr lang="en-US" dirty="0"/>
              <a:t> To formulate season-specific water quotas, optimize fertilizer subsidies, and encourage micro-irrigation systems.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b="1" dirty="0" err="1" smtClean="0"/>
              <a:t>Agritech</a:t>
            </a:r>
            <a:r>
              <a:rPr lang="en-US" b="1" dirty="0" smtClean="0"/>
              <a:t> </a:t>
            </a:r>
            <a:r>
              <a:rPr lang="en-US" b="1" dirty="0"/>
              <a:t>&amp; Input Providers:</a:t>
            </a:r>
            <a:r>
              <a:rPr lang="en-US" dirty="0"/>
              <a:t> To align regional distribution of seeds, bio-fertilizers, and pesticides with seasonal pest risk and moisture cycles.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56" y="339289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91971" y="1850558"/>
            <a:ext cx="807657" cy="8076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65509" y="1826171"/>
            <a:ext cx="691962" cy="747678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59239" y="3265140"/>
            <a:ext cx="886118" cy="886118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23344" y="3385561"/>
            <a:ext cx="773162" cy="77316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2101" y="4852380"/>
            <a:ext cx="671728" cy="6717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54664" y="1826172"/>
            <a:ext cx="242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Python-3</a:t>
            </a:r>
          </a:p>
          <a:p>
            <a:r>
              <a:rPr lang="en-US" dirty="0" smtClean="0"/>
              <a:t>-core programming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610483" y="3385033"/>
            <a:ext cx="2639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Numpy</a:t>
            </a:r>
            <a:endParaRPr lang="en-US" dirty="0" smtClean="0"/>
          </a:p>
          <a:p>
            <a:r>
              <a:rPr lang="en-US" dirty="0" smtClean="0"/>
              <a:t>-numerical computing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357471" y="3448976"/>
            <a:ext cx="242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Matplotlib</a:t>
            </a:r>
            <a:endParaRPr lang="en-US" dirty="0" smtClean="0"/>
          </a:p>
          <a:p>
            <a:r>
              <a:rPr lang="en-US" dirty="0" smtClean="0"/>
              <a:t>-</a:t>
            </a:r>
            <a:r>
              <a:rPr lang="en-US" dirty="0"/>
              <a:t>d</a:t>
            </a:r>
            <a:r>
              <a:rPr lang="en-US" dirty="0" smtClean="0"/>
              <a:t>ata visualization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337071" y="1826172"/>
            <a:ext cx="242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Pandas</a:t>
            </a:r>
          </a:p>
          <a:p>
            <a:r>
              <a:rPr lang="en-US" dirty="0" smtClean="0"/>
              <a:t>-data </a:t>
            </a:r>
            <a:r>
              <a:rPr lang="en-US" dirty="0" err="1" smtClean="0"/>
              <a:t>wranging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337071" y="4892530"/>
            <a:ext cx="268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Colab</a:t>
            </a:r>
            <a:endParaRPr lang="en-US" dirty="0" smtClean="0"/>
          </a:p>
          <a:p>
            <a:r>
              <a:rPr lang="en-US" dirty="0" smtClean="0"/>
              <a:t>-execution environment</a:t>
            </a:r>
            <a:endParaRPr lang="en-US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3547" y="4928598"/>
            <a:ext cx="744503" cy="70452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457290" y="4991476"/>
            <a:ext cx="242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Seaborn</a:t>
            </a:r>
            <a:endParaRPr lang="en-US" dirty="0" smtClean="0"/>
          </a:p>
          <a:p>
            <a:r>
              <a:rPr lang="en-US" dirty="0" smtClean="0"/>
              <a:t>-statistical visuals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97" y="255816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568" y="1181103"/>
            <a:ext cx="2096292" cy="506886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smtClean="0"/>
              <a:t>Fig-1 :-Highlights </a:t>
            </a:r>
            <a:r>
              <a:rPr lang="en-US" dirty="0"/>
              <a:t>clear </a:t>
            </a:r>
            <a:r>
              <a:rPr lang="en-US" dirty="0" smtClean="0"/>
              <a:t>  microclimatic shifts across seasons, where </a:t>
            </a:r>
            <a:r>
              <a:rPr lang="en-US" dirty="0" err="1" smtClean="0"/>
              <a:t>Kharif</a:t>
            </a:r>
            <a:r>
              <a:rPr lang="en-US" dirty="0" smtClean="0"/>
              <a:t> brings peak rainfall and soil moisture, while Zaid experiences elevated temperatures and extended daily sunlight.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622" y="547854"/>
            <a:ext cx="8582486" cy="6117106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2516957" y="337479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357" y="142962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0982" y="1275371"/>
            <a:ext cx="10787805" cy="11032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smtClean="0"/>
              <a:t>Fig-2 :- Demonstrates </a:t>
            </a:r>
            <a:r>
              <a:rPr lang="en-US" dirty="0"/>
              <a:t>that Sugarcane dominates biomass yield across all seasons, while farm size and seed quality show minimal direct correlation with yield per </a:t>
            </a:r>
            <a:r>
              <a:rPr lang="en-US" dirty="0" smtClean="0"/>
              <a:t>hectare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4" y="2611525"/>
            <a:ext cx="11977540" cy="380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25" y="182181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0982" y="1261027"/>
            <a:ext cx="2629608" cy="393515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Fig-3 :-</a:t>
            </a:r>
          </a:p>
          <a:p>
            <a:pPr marL="0" indent="0">
              <a:buNone/>
            </a:pPr>
            <a:r>
              <a:rPr lang="en-US" dirty="0" smtClean="0"/>
              <a:t>Reveals </a:t>
            </a:r>
            <a:r>
              <a:rPr lang="en-US" dirty="0"/>
              <a:t>that precision irrigation methods achieve higher water efficiency despite lower consumption, while </a:t>
            </a:r>
            <a:r>
              <a:rPr lang="en-US" dirty="0" err="1"/>
              <a:t>Kharif</a:t>
            </a:r>
            <a:r>
              <a:rPr lang="en-US" dirty="0"/>
              <a:t> faces consistently higher pest and disease risks across all </a:t>
            </a:r>
            <a:r>
              <a:rPr lang="en-US" dirty="0" smtClean="0"/>
              <a:t>crops.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198" y="1051630"/>
            <a:ext cx="8448344" cy="561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97" y="209247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0981" y="1130889"/>
            <a:ext cx="9416907" cy="115039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Fig-4 :- Illustrates </a:t>
            </a:r>
            <a:r>
              <a:rPr lang="en-US" dirty="0"/>
              <a:t>that farm profitability peaks during </a:t>
            </a:r>
            <a:r>
              <a:rPr lang="en-US" dirty="0" err="1"/>
              <a:t>Kharif</a:t>
            </a:r>
            <a:r>
              <a:rPr lang="en-US" dirty="0"/>
              <a:t> through high-margin commercial crops (Sugarcane and </a:t>
            </a:r>
            <a:r>
              <a:rPr lang="en-US" dirty="0" err="1"/>
              <a:t>Chilli</a:t>
            </a:r>
            <a:r>
              <a:rPr lang="en-US" dirty="0"/>
              <a:t>), whereas staple cereals frequently incur net operating losses.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55" y="2724346"/>
            <a:ext cx="11811802" cy="400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975" y="193238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0982" y="1024234"/>
            <a:ext cx="9963661" cy="113450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Fig-5 :- Confirms </a:t>
            </a:r>
            <a:r>
              <a:rPr lang="en-US" dirty="0"/>
              <a:t>widespread financial vulnerability during the dry Zaid season across every state, with Drip irrigation proving significantly more effective at maintaining farm profitability than Flood irrigation</a:t>
            </a:r>
            <a:r>
              <a:rPr lang="en-US" dirty="0" smtClean="0"/>
              <a:t>.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5" y="2443721"/>
            <a:ext cx="11368726" cy="422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745721" y="1463907"/>
            <a:ext cx="8803631" cy="3928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sz="2000" b="1" dirty="0"/>
              <a:t>Machine Learning Predictive Modeling:</a:t>
            </a:r>
            <a:r>
              <a:rPr lang="en-US" sz="2000" dirty="0"/>
              <a:t> Deploy </a:t>
            </a:r>
            <a:r>
              <a:rPr lang="en-US" sz="2000" dirty="0" err="1"/>
              <a:t>XGBoost</a:t>
            </a:r>
            <a:r>
              <a:rPr lang="en-US" sz="2000" dirty="0"/>
              <a:t> or Random Forest regression </a:t>
            </a:r>
            <a:r>
              <a:rPr lang="en-US" sz="2000" dirty="0" smtClean="0"/>
              <a:t>to predict </a:t>
            </a:r>
            <a:r>
              <a:rPr lang="en-US" sz="2000" dirty="0"/>
              <a:t>crop yields and harvest prices pre-sowing.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b="1" dirty="0"/>
              <a:t>Remote Sensing &amp; Satellite Integration:</a:t>
            </a:r>
            <a:r>
              <a:rPr lang="en-US" sz="2000" dirty="0"/>
              <a:t> Incorporate real-time Sentinel-2 / Landsat NDVI indices to monitor crop health dynamically across seasons.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b="1" dirty="0"/>
              <a:t>Dynamic Advisory Dashboard:</a:t>
            </a:r>
            <a:r>
              <a:rPr lang="en-US" sz="2000" dirty="0"/>
              <a:t> Build an interactive </a:t>
            </a:r>
            <a:r>
              <a:rPr lang="en-US" sz="2000" dirty="0" err="1"/>
              <a:t>Streamlit</a:t>
            </a:r>
            <a:r>
              <a:rPr lang="en-US" sz="2000" dirty="0"/>
              <a:t> or Power BI dashboard for district-level agricultural officers.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b="1" dirty="0"/>
              <a:t>Climate Change Scenario Modeling:</a:t>
            </a:r>
            <a:r>
              <a:rPr lang="en-US" sz="2000" dirty="0"/>
              <a:t> Simulate the economic impact of extreme weather events (monsoon failure, heatwaves) on farm margins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1093509" y="1442301"/>
            <a:ext cx="882348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smtClean="0">
                <a:latin typeface="Google Sans Text"/>
              </a:rPr>
              <a:t>GitHub URL:</a:t>
            </a:r>
            <a:r>
              <a:rPr lang="en-US" altLang="en-US" sz="2000" dirty="0" smtClean="0">
                <a:latin typeface="Google Sans Text"/>
              </a:rPr>
              <a:t> </a:t>
            </a:r>
            <a:r>
              <a:rPr lang="en-US" altLang="en-US" sz="2000" dirty="0" smtClean="0">
                <a:latin typeface="Google Sans Text"/>
                <a:hlinkClick r:id="rId3"/>
              </a:rPr>
              <a:t>https</a:t>
            </a:r>
            <a:r>
              <a:rPr lang="en-US" altLang="en-US" sz="2000" dirty="0">
                <a:latin typeface="Google Sans Text"/>
                <a:hlinkClick r:id="rId3"/>
              </a:rPr>
              <a:t>://</a:t>
            </a:r>
            <a:r>
              <a:rPr lang="en-US" altLang="en-US" sz="2000" dirty="0" smtClean="0">
                <a:latin typeface="Google Sans Text"/>
                <a:hlinkClick r:id="rId3"/>
              </a:rPr>
              <a:t>github.com/Arnab-13/VOIS_for_TECH_Internship/tree/main/Major_Project</a:t>
            </a:r>
            <a:r>
              <a:rPr lang="en-US" altLang="en-US" sz="2000" dirty="0" smtClean="0">
                <a:latin typeface="Google Sans Text"/>
              </a:rPr>
              <a:t/>
            </a:r>
            <a:br>
              <a:rPr lang="en-US" altLang="en-US" sz="2000" dirty="0" smtClean="0">
                <a:latin typeface="Google Sans Text"/>
              </a:rPr>
            </a:br>
            <a:endParaRPr lang="en-US" altLang="en-US" sz="2000" dirty="0" smtClean="0">
              <a:latin typeface="Google Sans Tex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smtClean="0">
                <a:latin typeface="Google Sans Text"/>
              </a:rPr>
              <a:t>Repository </a:t>
            </a:r>
            <a:r>
              <a:rPr lang="en-US" altLang="en-US" sz="2000" b="1" dirty="0">
                <a:latin typeface="Google Sans Text"/>
              </a:rPr>
              <a:t>Contents:</a:t>
            </a:r>
            <a:endParaRPr lang="en-US" altLang="en-US" sz="2000" dirty="0">
              <a:latin typeface="Google Sans Text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 err="1">
                <a:latin typeface="Google Sans Text"/>
              </a:rPr>
              <a:t>Major_Project_Seasonal_Agriculture_Performance_Analysis.ipynb</a:t>
            </a:r>
            <a:r>
              <a:rPr lang="en-US" altLang="en-US" sz="2000" dirty="0">
                <a:latin typeface="Google Sans Text"/>
              </a:rPr>
              <a:t> (</a:t>
            </a:r>
            <a:r>
              <a:rPr lang="en-US" altLang="en-US" sz="2000" dirty="0" err="1">
                <a:latin typeface="Google Sans Text"/>
              </a:rPr>
              <a:t>Colab</a:t>
            </a:r>
            <a:r>
              <a:rPr lang="en-US" altLang="en-US" sz="2000" dirty="0">
                <a:latin typeface="Google Sans Text"/>
              </a:rPr>
              <a:t> Notebook)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Google Sans Text"/>
              </a:rPr>
              <a:t>seasonal_agriculture_performance_dataset.csv (Dataset)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Google Sans Text"/>
              </a:rPr>
              <a:t>VOIS_Major_Project_PPT_Submission.pptx (Presentation Deck)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Google Sans Text"/>
              </a:rPr>
              <a:t>README.md (Technical Project Documentation)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437376"/>
            <a:ext cx="7264773" cy="5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1200416" y="1544732"/>
            <a:ext cx="980316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Reference: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dirty="0"/>
              <a:t>Seasonal Agriculture Performance Analysis </a:t>
            </a:r>
            <a:endParaRPr lang="en-US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 Details:</a:t>
            </a:r>
            <a:endParaRPr kumimoji="0" lang="en-US" altLang="en-US" sz="18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VOIS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 smtClean="0">
                <a:latin typeface="Arial" panose="020B0604020202020204" pitchFamily="34" charset="0"/>
              </a:rPr>
              <a:t>FOR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Analytics Internship (August 2026 Batch)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Initiative By: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Vodafone Intelligent Solutions (_VOIS) &amp; Vodafone Idea Foundation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Collaboration With: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Edunet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Foundation &amp; AICTE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Presenter Information: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Name: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Arnab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Chowdhury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AICTE STU ID : </a:t>
            </a:r>
            <a:r>
              <a:rPr lang="en-US" dirty="0" smtClean="0"/>
              <a:t>STU6a2fa399187661781506969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College Name- </a:t>
            </a:r>
            <a:r>
              <a:rPr lang="en-US" dirty="0"/>
              <a:t>University of Engineering &amp; Management, Jaipur</a:t>
            </a:r>
            <a:endParaRPr lang="en-US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arnabthe07@gmail.com</a:t>
            </a:r>
            <a:r>
              <a:rPr lang="en-US" altLang="en-US" dirty="0" smtClean="0">
                <a:latin typeface="Arial" panose="020B0604020202020204" pitchFamily="34" charset="0"/>
              </a:rPr>
              <a:t/>
            </a:r>
            <a:br>
              <a:rPr lang="en-US" altLang="en-US" dirty="0" smtClean="0"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621</TotalTime>
  <Words>671</Words>
  <Application>Microsoft Office PowerPoint</Application>
  <PresentationFormat>Widescreen</PresentationFormat>
  <Paragraphs>72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Google Sans Text</vt:lpstr>
      <vt:lpstr>Trebuchet MS</vt:lpstr>
      <vt:lpstr>Wingdings</vt:lpstr>
      <vt:lpstr>Wingdings 3</vt:lpstr>
      <vt:lpstr>Facet</vt:lpstr>
      <vt:lpstr>Project Title - Seasonal Agriculture Performance Analysis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asus</cp:lastModifiedBy>
  <cp:revision>105</cp:revision>
  <dcterms:created xsi:type="dcterms:W3CDTF">2021-07-11T13:13:15Z</dcterms:created>
  <dcterms:modified xsi:type="dcterms:W3CDTF">2026-09-05T08:19:31Z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